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9" r:id="rId4"/>
    <p:sldId id="263" r:id="rId5"/>
    <p:sldId id="258" r:id="rId6"/>
    <p:sldId id="260" r:id="rId7"/>
    <p:sldId id="268" r:id="rId8"/>
    <p:sldId id="264" r:id="rId9"/>
    <p:sldId id="266" r:id="rId10"/>
    <p:sldId id="267" r:id="rId11"/>
    <p:sldId id="261" r:id="rId12"/>
    <p:sldId id="265"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D368D-0123-41EE-8EC6-7A08153F2FFB}" v="21" dt="2026-04-26T15:21:07.1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476D98-D61B-4655-9F07-885518B2E134}" type="slidenum">
              <a:rPr lang="en-US" smtClean="0"/>
              <a:t>1</a:t>
            </a:fld>
            <a:endParaRPr lang="en-US"/>
          </a:p>
        </p:txBody>
      </p:sp>
    </p:spTree>
    <p:extLst>
      <p:ext uri="{BB962C8B-B14F-4D97-AF65-F5344CB8AC3E}">
        <p14:creationId xmlns:p14="http://schemas.microsoft.com/office/powerpoint/2010/main" val="2251616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476D98-D61B-4655-9F07-885518B2E134}" type="slidenum">
              <a:rPr lang="en-US" smtClean="0"/>
              <a:t>3</a:t>
            </a:fld>
            <a:endParaRPr lang="en-US"/>
          </a:p>
        </p:txBody>
      </p:sp>
    </p:spTree>
    <p:extLst>
      <p:ext uri="{BB962C8B-B14F-4D97-AF65-F5344CB8AC3E}">
        <p14:creationId xmlns:p14="http://schemas.microsoft.com/office/powerpoint/2010/main" val="1241300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476D98-D61B-4655-9F07-885518B2E134}" type="slidenum">
              <a:rPr lang="en-US" smtClean="0"/>
              <a:t>7</a:t>
            </a:fld>
            <a:endParaRPr lang="en-US"/>
          </a:p>
        </p:txBody>
      </p:sp>
    </p:spTree>
    <p:extLst>
      <p:ext uri="{BB962C8B-B14F-4D97-AF65-F5344CB8AC3E}">
        <p14:creationId xmlns:p14="http://schemas.microsoft.com/office/powerpoint/2010/main" val="3735399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4/26/2026</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4/26/2026</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4/26/2026</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4/26/2026</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4/26/2026</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4/26/2026</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4/26/2026</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4/26/2026</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4/26/2026</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4/26/2026</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4/26/2026</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4/26/2026</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3"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CSE (ARTIFICIAL INTELLIGENCE AND MACHINE LEARNING)</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IV</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MACHINE LEARNING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SPAM EMAIL CLASSIFICATION USING NAÏVE BAYES AND LOGISTIC REGRESSION</a:t>
            </a:r>
            <a:endParaRPr lang="en-US"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2606688074"/>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2117240030028</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DHARRINI SELVI R</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II</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A</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Divya</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4/26/2026</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4/26/2026</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dirty="0"/>
          </a:p>
        </p:txBody>
      </p:sp>
      <p:sp>
        <p:nvSpPr>
          <p:cNvPr id="8" name="Rectangle 3">
            <a:extLst>
              <a:ext uri="{FF2B5EF4-FFF2-40B4-BE49-F238E27FC236}">
                <a16:creationId xmlns:a16="http://schemas.microsoft.com/office/drawing/2014/main" id="{79C49346-A73D-0B54-6247-FB3BCE12EEE3}"/>
              </a:ext>
            </a:extLst>
          </p:cNvPr>
          <p:cNvSpPr>
            <a:spLocks noGrp="1" noChangeArrowheads="1"/>
          </p:cNvSpPr>
          <p:nvPr>
            <p:ph idx="1"/>
          </p:nvPr>
        </p:nvSpPr>
        <p:spPr bwMode="auto">
          <a:xfrm>
            <a:off x="838199" y="888475"/>
            <a:ext cx="10085439"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dirty="0"/>
              <a:t>• Traditional methods of filtering spam messages rely on basic keyword matching and manual rules, which are often ineffective against evolving spam patterns.</a:t>
            </a:r>
          </a:p>
          <a:p>
            <a:pPr marL="0" indent="0">
              <a:buNone/>
            </a:pPr>
            <a:r>
              <a:rPr lang="en-US" sz="2000" dirty="0"/>
              <a:t>• These methods may fail to accurately detect new or disguised spam messages, leading to security risks such as phishing and fraud.</a:t>
            </a:r>
          </a:p>
          <a:p>
            <a:pPr marL="0" indent="0">
              <a:buNone/>
            </a:pPr>
            <a:r>
              <a:rPr lang="en-US" sz="2000" dirty="0"/>
              <a:t>• Spam messages contain various textual patterns, promotional content, and misleading information that are difficult to analyze manually.</a:t>
            </a:r>
          </a:p>
          <a:p>
            <a:pPr marL="0" indent="0">
              <a:buNone/>
            </a:pPr>
            <a:r>
              <a:rPr lang="en-US" sz="2000" dirty="0"/>
              <a:t>• Manual filtering of messages is time-consuming, inefficient, and prone to errors, especially with large volumes of data.</a:t>
            </a:r>
          </a:p>
          <a:p>
            <a:pPr marL="0" indent="0">
              <a:buNone/>
            </a:pPr>
            <a:r>
              <a:rPr lang="en-US" sz="2000" dirty="0"/>
              <a:t>• Without an automated system, users may be exposed to malicious content that can compromise personal and financial information.</a:t>
            </a:r>
          </a:p>
          <a:p>
            <a:pPr marL="0" indent="0">
              <a:buNone/>
            </a:pPr>
            <a:r>
              <a:rPr lang="en-US" sz="2000" dirty="0"/>
              <a:t>• There is a need for a smart and efficient system that can automatically classify messages as spam or ham in real time.</a:t>
            </a:r>
          </a:p>
          <a:p>
            <a:pPr marL="0" indent="0">
              <a:buNone/>
            </a:pPr>
            <a:r>
              <a:rPr lang="en-US" sz="2000" dirty="0"/>
              <a:t>• Therefore, a machine learning-based spam detection system is required to improve accuracy, enhance security, and provide reliable message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4/26/2026</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
        <p:nvSpPr>
          <p:cNvPr id="7" name="Rectangle 2">
            <a:extLst>
              <a:ext uri="{FF2B5EF4-FFF2-40B4-BE49-F238E27FC236}">
                <a16:creationId xmlns:a16="http://schemas.microsoft.com/office/drawing/2014/main" id="{6E00BF6F-BE3D-EA2A-8C7A-115916C25C83}"/>
              </a:ext>
            </a:extLst>
          </p:cNvPr>
          <p:cNvSpPr>
            <a:spLocks noChangeArrowheads="1"/>
          </p:cNvSpPr>
          <p:nvPr/>
        </p:nvSpPr>
        <p:spPr bwMode="auto">
          <a:xfrm>
            <a:off x="682905" y="282548"/>
            <a:ext cx="11042249"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r>
              <a:rPr lang="en-US" sz="2000" dirty="0"/>
              <a:t>• Machine Learning is a branch of Artificial Intelligence that enables systems to learn from data and make predictions automatically.</a:t>
            </a:r>
          </a:p>
          <a:p>
            <a:r>
              <a:rPr lang="en-US" sz="2000" dirty="0"/>
              <a:t>• It uses historical data to identify patterns and classify new data accurately.</a:t>
            </a:r>
          </a:p>
          <a:p>
            <a:r>
              <a:rPr lang="en-US" sz="2000" dirty="0"/>
              <a:t>• In the domain of communication systems, Machine Learning is widely used to detect and filter spam messages.</a:t>
            </a:r>
          </a:p>
          <a:p>
            <a:r>
              <a:rPr lang="en-US" sz="2000" dirty="0"/>
              <a:t>• Spam detection is a text classification problem where messages are categorized as </a:t>
            </a:r>
            <a:r>
              <a:rPr lang="en-US" sz="2000" b="1" dirty="0"/>
              <a:t>Spam</a:t>
            </a:r>
            <a:r>
              <a:rPr lang="en-US" sz="2000" dirty="0"/>
              <a:t> or </a:t>
            </a:r>
            <a:r>
              <a:rPr lang="en-US" sz="2000" b="1" dirty="0"/>
              <a:t>Ham (Non-Spam)</a:t>
            </a:r>
            <a:r>
              <a:rPr lang="en-US" sz="2000" dirty="0"/>
              <a:t>.</a:t>
            </a:r>
          </a:p>
          <a:p>
            <a:r>
              <a:rPr lang="en-US" sz="2000" dirty="0"/>
              <a:t>• This project uses </a:t>
            </a:r>
            <a:r>
              <a:rPr lang="en-US" sz="2000" b="1" dirty="0"/>
              <a:t>Naive Bayes</a:t>
            </a:r>
            <a:r>
              <a:rPr lang="en-US" sz="2000" dirty="0"/>
              <a:t> and </a:t>
            </a:r>
            <a:r>
              <a:rPr lang="en-US" sz="2000" b="1" dirty="0"/>
              <a:t>Logistic Regression</a:t>
            </a:r>
            <a:r>
              <a:rPr lang="en-US" sz="2000" dirty="0"/>
              <a:t>, which are supervised learning algorithms used for classification tasks.</a:t>
            </a:r>
          </a:p>
          <a:p>
            <a:r>
              <a:rPr lang="en-US" sz="2000" dirty="0"/>
              <a:t>• Naive Bayes is a probabilistic algorithm based on Bayes’ Theorem and is effective for text classification.</a:t>
            </a:r>
          </a:p>
          <a:p>
            <a:r>
              <a:rPr lang="en-US" sz="2000" dirty="0"/>
              <a:t>• Logistic Regression predicts the probability of a message being spam or not using a sigmoid function.</a:t>
            </a:r>
          </a:p>
          <a:p>
            <a:r>
              <a:rPr lang="en-US" sz="2000" dirty="0"/>
              <a:t>• Text data is converted into numerical form using techniques like </a:t>
            </a:r>
            <a:r>
              <a:rPr lang="en-US" sz="2000" b="1" dirty="0"/>
              <a:t>TF-IDF vectorization</a:t>
            </a:r>
            <a:r>
              <a:rPr lang="en-US" sz="2000" dirty="0"/>
              <a:t> for model training.</a:t>
            </a:r>
          </a:p>
          <a:p>
            <a:r>
              <a:rPr lang="en-US" sz="2000" dirty="0"/>
              <a:t>• These methods help improve accuracy and automate spam detection efficiently.</a:t>
            </a:r>
          </a:p>
          <a:p>
            <a:r>
              <a:rPr lang="en-US" sz="2000" dirty="0"/>
              <a:t>• The system classifies messages in real-time and assists users in identifying unwanted or malicious content.</a:t>
            </a:r>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435A-10F7-BFC5-00EC-58E40C445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62645-36EF-8091-6776-B59E845FD339}"/>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4" name="Date Placeholder 3">
            <a:extLst>
              <a:ext uri="{FF2B5EF4-FFF2-40B4-BE49-F238E27FC236}">
                <a16:creationId xmlns:a16="http://schemas.microsoft.com/office/drawing/2014/main" id="{EEF90121-F38D-D79C-3D65-B6D35C0C125D}"/>
              </a:ext>
            </a:extLst>
          </p:cNvPr>
          <p:cNvSpPr>
            <a:spLocks noGrp="1"/>
          </p:cNvSpPr>
          <p:nvPr>
            <p:ph type="dt" sz="half" idx="10"/>
          </p:nvPr>
        </p:nvSpPr>
        <p:spPr/>
        <p:txBody>
          <a:bodyPr/>
          <a:lstStyle/>
          <a:p>
            <a:fld id="{316FBEDF-053F-468F-8CCF-D1ACE4FBB50D}" type="datetime1">
              <a:rPr lang="en-US" smtClean="0"/>
              <a:t>4/26/2026</a:t>
            </a:fld>
            <a:endParaRPr lang="en-US"/>
          </a:p>
        </p:txBody>
      </p:sp>
      <p:sp>
        <p:nvSpPr>
          <p:cNvPr id="5" name="Slide Number Placeholder 4">
            <a:extLst>
              <a:ext uri="{FF2B5EF4-FFF2-40B4-BE49-F238E27FC236}">
                <a16:creationId xmlns:a16="http://schemas.microsoft.com/office/drawing/2014/main" id="{14EE3686-D39B-BA2A-7691-6B642EA984D7}"/>
              </a:ext>
            </a:extLst>
          </p:cNvPr>
          <p:cNvSpPr>
            <a:spLocks noGrp="1"/>
          </p:cNvSpPr>
          <p:nvPr>
            <p:ph type="sldNum" sz="quarter" idx="12"/>
          </p:nvPr>
        </p:nvSpPr>
        <p:spPr/>
        <p:txBody>
          <a:bodyPr/>
          <a:lstStyle/>
          <a:p>
            <a:fld id="{1FCEF87E-815D-44D1-B0AB-39AF0402D6A8}" type="slidenum">
              <a:rPr lang="en-US" smtClean="0"/>
              <a:t>4</a:t>
            </a:fld>
            <a:endParaRPr lang="en-US" dirty="0"/>
          </a:p>
        </p:txBody>
      </p:sp>
      <p:sp>
        <p:nvSpPr>
          <p:cNvPr id="10" name="Content Placeholder 2">
            <a:extLst>
              <a:ext uri="{FF2B5EF4-FFF2-40B4-BE49-F238E27FC236}">
                <a16:creationId xmlns:a16="http://schemas.microsoft.com/office/drawing/2014/main" id="{F346B790-087A-5DBD-182F-135E4F2FE71A}"/>
              </a:ext>
            </a:extLst>
          </p:cNvPr>
          <p:cNvSpPr>
            <a:spLocks noGrp="1"/>
          </p:cNvSpPr>
          <p:nvPr>
            <p:ph idx="1"/>
          </p:nvPr>
        </p:nvSpPr>
        <p:spPr>
          <a:xfrm>
            <a:off x="578734" y="914400"/>
            <a:ext cx="10775066" cy="5262563"/>
          </a:xfrm>
        </p:spPr>
        <p:txBody>
          <a:bodyPr>
            <a:normAutofit/>
          </a:bodyPr>
          <a:lstStyle/>
          <a:p>
            <a:pPr marL="0" lvl="0" indent="0">
              <a:buNone/>
            </a:pPr>
            <a:r>
              <a:rPr lang="en-US" sz="2400" b="1" u="sng" dirty="0"/>
              <a:t>ALGORITHM</a:t>
            </a:r>
          </a:p>
          <a:p>
            <a:pPr marL="0" lvl="0" indent="0">
              <a:buNone/>
            </a:pPr>
            <a:endParaRPr lang="en-US" sz="2400" b="1" u="sng" dirty="0"/>
          </a:p>
        </p:txBody>
      </p:sp>
      <p:sp>
        <p:nvSpPr>
          <p:cNvPr id="12" name="Rectangle 2">
            <a:extLst>
              <a:ext uri="{FF2B5EF4-FFF2-40B4-BE49-F238E27FC236}">
                <a16:creationId xmlns:a16="http://schemas.microsoft.com/office/drawing/2014/main" id="{215B3E87-CF58-366C-454D-E2A123449E35}"/>
              </a:ext>
            </a:extLst>
          </p:cNvPr>
          <p:cNvSpPr>
            <a:spLocks noChangeArrowheads="1"/>
          </p:cNvSpPr>
          <p:nvPr/>
        </p:nvSpPr>
        <p:spPr bwMode="auto">
          <a:xfrm>
            <a:off x="578734" y="-5657480"/>
            <a:ext cx="9967346" cy="1163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000" dirty="0"/>
              <a:t>• Load the SMS Spam dataset containing labeled messages (Spam/Ham).</a:t>
            </a:r>
          </a:p>
          <a:p>
            <a:r>
              <a:rPr lang="en-US" sz="2000" dirty="0"/>
              <a:t>• Preprocess the data by converting text to lowercase and removing punctuation.</a:t>
            </a:r>
          </a:p>
          <a:p>
            <a:r>
              <a:rPr lang="en-US" sz="2000" dirty="0"/>
              <a:t>• Convert text data into numerical form using </a:t>
            </a:r>
            <a:r>
              <a:rPr lang="en-US" sz="2000" b="1" dirty="0"/>
              <a:t>TF-IDF vectorization</a:t>
            </a:r>
            <a:r>
              <a:rPr lang="en-US" sz="2000" dirty="0"/>
              <a:t>.</a:t>
            </a:r>
          </a:p>
          <a:p>
            <a:r>
              <a:rPr lang="en-US" sz="2000" dirty="0"/>
              <a:t>• Assign labels to messages (Spam = 1, Ham = 0).</a:t>
            </a:r>
          </a:p>
          <a:p>
            <a:r>
              <a:rPr lang="en-US" sz="2000" dirty="0"/>
              <a:t>• Split the dataset into training (80%) and testing (20%) sets.</a:t>
            </a:r>
          </a:p>
          <a:p>
            <a:r>
              <a:rPr lang="en-US" sz="2000" dirty="0"/>
              <a:t>• Train the </a:t>
            </a:r>
            <a:r>
              <a:rPr lang="en-US" sz="2000" b="1" dirty="0"/>
              <a:t>Naive Bayes</a:t>
            </a:r>
            <a:r>
              <a:rPr lang="en-US" sz="2000" dirty="0"/>
              <a:t> model for probabilistic classification.</a:t>
            </a:r>
          </a:p>
          <a:p>
            <a:r>
              <a:rPr lang="en-US" sz="2000" dirty="0"/>
              <a:t>• Train the </a:t>
            </a:r>
            <a:r>
              <a:rPr lang="en-US" sz="2000" b="1" dirty="0"/>
              <a:t>Logistic Regression</a:t>
            </a:r>
            <a:r>
              <a:rPr lang="en-US" sz="2000" dirty="0"/>
              <a:t> model for probability-based prediction.</a:t>
            </a:r>
          </a:p>
          <a:p>
            <a:r>
              <a:rPr lang="en-US" sz="2000" dirty="0"/>
              <a:t>• Take user input from the GUI and preprocess the message.</a:t>
            </a:r>
          </a:p>
          <a:p>
            <a:r>
              <a:rPr lang="en-US" sz="2000" dirty="0"/>
              <a:t>• Transform the input message using the trained TF-IDF vectorizer.</a:t>
            </a:r>
          </a:p>
          <a:p>
            <a:r>
              <a:rPr lang="en-US" sz="2000" dirty="0"/>
              <a:t>• Predict whether the message is Spam or Ham using the selected model.</a:t>
            </a:r>
          </a:p>
          <a:p>
            <a:r>
              <a:rPr lang="en-US" sz="2000" dirty="0"/>
              <a:t>• Evaluate model performance using Accuracy, Precision, Recall, F1 Score, and Confusion Matrix.</a:t>
            </a:r>
          </a:p>
          <a:p>
            <a:r>
              <a:rPr lang="en-US" sz="2000" dirty="0"/>
              <a:t>• Display classification results through a user-friendly </a:t>
            </a:r>
            <a:r>
              <a:rPr lang="en-US" sz="2000" dirty="0" err="1"/>
              <a:t>Tkinter</a:t>
            </a:r>
            <a:r>
              <a:rPr lang="en-US" sz="2000" dirty="0"/>
              <a:t> GUI.</a:t>
            </a:r>
          </a:p>
          <a:p>
            <a:r>
              <a:rPr lang="en-US" sz="2000" dirty="0"/>
              <a:t>• Visualize performance using graphs and comparison charts.</a:t>
            </a:r>
          </a:p>
        </p:txBody>
      </p:sp>
    </p:spTree>
    <p:extLst>
      <p:ext uri="{BB962C8B-B14F-4D97-AF65-F5344CB8AC3E}">
        <p14:creationId xmlns:p14="http://schemas.microsoft.com/office/powerpoint/2010/main" val="183727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5</a:t>
            </a:fld>
            <a:endParaRPr lang="en-US"/>
          </a:p>
        </p:txBody>
      </p:sp>
      <p:graphicFrame>
        <p:nvGraphicFramePr>
          <p:cNvPr id="6" name="Table 5">
            <a:extLst>
              <a:ext uri="{FF2B5EF4-FFF2-40B4-BE49-F238E27FC236}">
                <a16:creationId xmlns:a16="http://schemas.microsoft.com/office/drawing/2014/main" id="{2CDE9EAC-96DA-1FB7-EA39-187A024E6AEF}"/>
              </a:ext>
            </a:extLst>
          </p:cNvPr>
          <p:cNvGraphicFramePr>
            <a:graphicFrameLocks noGrp="1"/>
          </p:cNvGraphicFramePr>
          <p:nvPr>
            <p:extLst>
              <p:ext uri="{D42A27DB-BD31-4B8C-83A1-F6EECF244321}">
                <p14:modId xmlns:p14="http://schemas.microsoft.com/office/powerpoint/2010/main" val="47106257"/>
              </p:ext>
            </p:extLst>
          </p:nvPr>
        </p:nvGraphicFramePr>
        <p:xfrm>
          <a:off x="2032000" y="2408902"/>
          <a:ext cx="8999794" cy="1199537"/>
        </p:xfrm>
        <a:graphic>
          <a:graphicData uri="http://schemas.openxmlformats.org/drawingml/2006/table">
            <a:tbl>
              <a:tblPr firstRow="1" bandRow="1">
                <a:tableStyleId>{5C22544A-7EE6-4342-B048-85BDC9FD1C3A}</a:tableStyleId>
              </a:tblPr>
              <a:tblGrid>
                <a:gridCol w="3670710">
                  <a:extLst>
                    <a:ext uri="{9D8B030D-6E8A-4147-A177-3AD203B41FA5}">
                      <a16:colId xmlns:a16="http://schemas.microsoft.com/office/drawing/2014/main" val="1391983633"/>
                    </a:ext>
                  </a:extLst>
                </a:gridCol>
                <a:gridCol w="5329084">
                  <a:extLst>
                    <a:ext uri="{9D8B030D-6E8A-4147-A177-3AD203B41FA5}">
                      <a16:colId xmlns:a16="http://schemas.microsoft.com/office/drawing/2014/main" val="1413214934"/>
                    </a:ext>
                  </a:extLst>
                </a:gridCol>
              </a:tblGrid>
              <a:tr h="1199537">
                <a:tc>
                  <a:txBody>
                    <a:bodyPr/>
                    <a:lstStyle/>
                    <a:p>
                      <a:r>
                        <a:rPr lang="en-GB" sz="1800" b="1" kern="1200" dirty="0">
                          <a:solidFill>
                            <a:schemeClr val="lt1"/>
                          </a:solidFill>
                          <a:effectLst/>
                          <a:latin typeface="+mn-lt"/>
                          <a:ea typeface="+mn-ea"/>
                          <a:cs typeface="+mn-cs"/>
                        </a:rPr>
                        <a:t> report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711680"/>
                  </a:ext>
                </a:extLst>
              </a:tr>
            </a:tbl>
          </a:graphicData>
        </a:graphic>
      </p:graphicFrame>
      <p:graphicFrame>
        <p:nvGraphicFramePr>
          <p:cNvPr id="12" name="Table 11">
            <a:extLst>
              <a:ext uri="{FF2B5EF4-FFF2-40B4-BE49-F238E27FC236}">
                <a16:creationId xmlns:a16="http://schemas.microsoft.com/office/drawing/2014/main" id="{7FBC6078-AF91-1F9B-84F8-ECB37F7926A6}"/>
              </a:ext>
            </a:extLst>
          </p:cNvPr>
          <p:cNvGraphicFramePr>
            <a:graphicFrameLocks noGrp="1"/>
          </p:cNvGraphicFramePr>
          <p:nvPr>
            <p:extLst>
              <p:ext uri="{D42A27DB-BD31-4B8C-83A1-F6EECF244321}">
                <p14:modId xmlns:p14="http://schemas.microsoft.com/office/powerpoint/2010/main" val="853840168"/>
              </p:ext>
            </p:extLst>
          </p:nvPr>
        </p:nvGraphicFramePr>
        <p:xfrm>
          <a:off x="5879692" y="2525718"/>
          <a:ext cx="4434347" cy="927862"/>
        </p:xfrm>
        <a:graphic>
          <a:graphicData uri="http://schemas.openxmlformats.org/drawingml/2006/table">
            <a:tbl>
              <a:tblPr firstRow="1" firstCol="1" bandRow="1">
                <a:tableStyleId>{5C22544A-7EE6-4342-B048-85BDC9FD1C3A}</a:tableStyleId>
              </a:tblPr>
              <a:tblGrid>
                <a:gridCol w="4434347">
                  <a:extLst>
                    <a:ext uri="{9D8B030D-6E8A-4147-A177-3AD203B41FA5}">
                      <a16:colId xmlns:a16="http://schemas.microsoft.com/office/drawing/2014/main" val="475511920"/>
                    </a:ext>
                  </a:extLst>
                </a:gridCol>
              </a:tblGrid>
              <a:tr h="740005">
                <a:tc>
                  <a:txBody>
                    <a:bodyPr/>
                    <a:lstStyle/>
                    <a:p>
                      <a:pPr marL="457200">
                        <a:lnSpc>
                          <a:spcPct val="115000"/>
                        </a:lnSpc>
                        <a:spcAft>
                          <a:spcPts val="800"/>
                        </a:spcAft>
                        <a:buNone/>
                      </a:pPr>
                      <a:r>
                        <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https://github.com/dharrini06/Spam-Email-Classification-using-Naive-Bayes-and-Logistic-Regression</a:t>
                      </a:r>
                    </a:p>
                  </a:txBody>
                  <a:tcPr marL="68580" marR="68580" marT="0" marB="0">
                    <a:noFill/>
                  </a:tcPr>
                </a:tc>
                <a:extLst>
                  <a:ext uri="{0D108BD9-81ED-4DB2-BD59-A6C34878D82A}">
                    <a16:rowId xmlns:a16="http://schemas.microsoft.com/office/drawing/2014/main" val="1091983866"/>
                  </a:ext>
                </a:extLst>
              </a:tr>
            </a:tbl>
          </a:graphicData>
        </a:graphic>
      </p:graphicFrame>
      <p:sp>
        <p:nvSpPr>
          <p:cNvPr id="13" name="TextBox 12">
            <a:extLst>
              <a:ext uri="{FF2B5EF4-FFF2-40B4-BE49-F238E27FC236}">
                <a16:creationId xmlns:a16="http://schemas.microsoft.com/office/drawing/2014/main" id="{9DB6683D-B330-11BD-A370-D1DD86CB00FE}"/>
              </a:ext>
            </a:extLst>
          </p:cNvPr>
          <p:cNvSpPr txBox="1"/>
          <p:nvPr/>
        </p:nvSpPr>
        <p:spPr>
          <a:xfrm>
            <a:off x="2104103" y="2723535"/>
            <a:ext cx="3372465" cy="646331"/>
          </a:xfrm>
          <a:prstGeom prst="rect">
            <a:avLst/>
          </a:prstGeom>
          <a:noFill/>
        </p:spPr>
        <p:txBody>
          <a:bodyPr wrap="square" rtlCol="0">
            <a:spAutoFit/>
          </a:bodyPr>
          <a:lstStyle/>
          <a:p>
            <a:r>
              <a:rPr lang="en-GB" b="1" dirty="0"/>
              <a:t>Git Hub Link of the project and report</a:t>
            </a:r>
            <a:endParaRPr lang="en-IN" dirty="0"/>
          </a:p>
        </p:txBody>
      </p:sp>
    </p:spTree>
    <p:extLst>
      <p:ext uri="{BB962C8B-B14F-4D97-AF65-F5344CB8AC3E}">
        <p14:creationId xmlns:p14="http://schemas.microsoft.com/office/powerpoint/2010/main" val="519586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normAutofit lnSpcReduction="10000"/>
          </a:bodyPr>
          <a:lstStyle/>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The message contains normal conversational content without any promotional or suspicious keywords, so it is correctly classified as ham (non-spam) with both Naïve Bayes and Logistic Regression.</a:t>
            </a: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6</a:t>
            </a:fld>
            <a:endParaRPr lang="en-US"/>
          </a:p>
        </p:txBody>
      </p:sp>
      <p:pic>
        <p:nvPicPr>
          <p:cNvPr id="8" name="Picture 7">
            <a:extLst>
              <a:ext uri="{FF2B5EF4-FFF2-40B4-BE49-F238E27FC236}">
                <a16:creationId xmlns:a16="http://schemas.microsoft.com/office/drawing/2014/main" id="{3B153E98-A5A6-D3CB-DA50-5E0553C3A9AA}"/>
              </a:ext>
            </a:extLst>
          </p:cNvPr>
          <p:cNvPicPr>
            <a:picLocks noChangeAspect="1"/>
          </p:cNvPicPr>
          <p:nvPr/>
        </p:nvPicPr>
        <p:blipFill>
          <a:blip r:embed="rId2"/>
          <a:stretch>
            <a:fillRect/>
          </a:stretch>
        </p:blipFill>
        <p:spPr>
          <a:xfrm>
            <a:off x="525231" y="1828683"/>
            <a:ext cx="4922675" cy="2916713"/>
          </a:xfrm>
          <a:prstGeom prst="rect">
            <a:avLst/>
          </a:prstGeom>
        </p:spPr>
      </p:pic>
      <p:pic>
        <p:nvPicPr>
          <p:cNvPr id="10" name="Picture 9">
            <a:extLst>
              <a:ext uri="{FF2B5EF4-FFF2-40B4-BE49-F238E27FC236}">
                <a16:creationId xmlns:a16="http://schemas.microsoft.com/office/drawing/2014/main" id="{D666CB67-FCA6-CD62-6B35-8A07BDFDCF64}"/>
              </a:ext>
            </a:extLst>
          </p:cNvPr>
          <p:cNvPicPr>
            <a:picLocks noChangeAspect="1"/>
          </p:cNvPicPr>
          <p:nvPr/>
        </p:nvPicPr>
        <p:blipFill>
          <a:blip r:embed="rId3"/>
          <a:stretch>
            <a:fillRect/>
          </a:stretch>
        </p:blipFill>
        <p:spPr>
          <a:xfrm>
            <a:off x="6096000" y="1849074"/>
            <a:ext cx="4880326" cy="2916713"/>
          </a:xfrm>
          <a:prstGeom prst="rect">
            <a:avLst/>
          </a:prstGeom>
        </p:spPr>
      </p:pic>
      <p:sp>
        <p:nvSpPr>
          <p:cNvPr id="11" name="TextBox 10">
            <a:extLst>
              <a:ext uri="{FF2B5EF4-FFF2-40B4-BE49-F238E27FC236}">
                <a16:creationId xmlns:a16="http://schemas.microsoft.com/office/drawing/2014/main" id="{E29E4812-E625-3C39-90E2-34163E6F8822}"/>
              </a:ext>
            </a:extLst>
          </p:cNvPr>
          <p:cNvSpPr txBox="1"/>
          <p:nvPr/>
        </p:nvSpPr>
        <p:spPr>
          <a:xfrm>
            <a:off x="522773" y="1267326"/>
            <a:ext cx="376821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Ham Message Detection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5269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81B24-DBC9-1141-F4CF-FD9008F95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D8CBF-C206-EAE8-669D-309DB91DA44A}"/>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37BD8B1F-4EDC-8F36-2878-D7DE3B833ACC}"/>
              </a:ext>
            </a:extLst>
          </p:cNvPr>
          <p:cNvSpPr>
            <a:spLocks noGrp="1"/>
          </p:cNvSpPr>
          <p:nvPr>
            <p:ph idx="1"/>
          </p:nvPr>
        </p:nvSpPr>
        <p:spPr>
          <a:xfrm>
            <a:off x="838200" y="1267326"/>
            <a:ext cx="10515600" cy="4909637"/>
          </a:xfrm>
        </p:spPr>
        <p:txBody>
          <a:bodyPr>
            <a:normAutofit lnSpcReduction="10000"/>
          </a:bodyPr>
          <a:lstStyle/>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endParaRPr lang="en-US" sz="18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The messages contain promotional and urgent keywords such as “won,” “gift card,” and “URGENT,” which are strong indicators of spam, so they are correctly classified as spam by both Naive Bayes and Logistic Regression</a:t>
            </a:r>
            <a:r>
              <a:rPr lang="en-US" sz="2000" dirty="0"/>
              <a:t>.</a:t>
            </a: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AEA4387-6624-DF89-B880-667736CBD6FC}"/>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E3F4FF9D-EEFB-4686-4B30-AB6D58DCA489}"/>
              </a:ext>
            </a:extLst>
          </p:cNvPr>
          <p:cNvSpPr>
            <a:spLocks noGrp="1"/>
          </p:cNvSpPr>
          <p:nvPr>
            <p:ph type="sldNum" sz="quarter" idx="12"/>
          </p:nvPr>
        </p:nvSpPr>
        <p:spPr/>
        <p:txBody>
          <a:bodyPr/>
          <a:lstStyle/>
          <a:p>
            <a:fld id="{1FCEF87E-815D-44D1-B0AB-39AF0402D6A8}" type="slidenum">
              <a:rPr lang="en-US" smtClean="0"/>
              <a:t>7</a:t>
            </a:fld>
            <a:endParaRPr lang="en-US"/>
          </a:p>
        </p:txBody>
      </p:sp>
      <p:sp>
        <p:nvSpPr>
          <p:cNvPr id="11" name="TextBox 10">
            <a:extLst>
              <a:ext uri="{FF2B5EF4-FFF2-40B4-BE49-F238E27FC236}">
                <a16:creationId xmlns:a16="http://schemas.microsoft.com/office/drawing/2014/main" id="{64B5CC97-29E3-2D54-0339-71FB674C3E25}"/>
              </a:ext>
            </a:extLst>
          </p:cNvPr>
          <p:cNvSpPr txBox="1"/>
          <p:nvPr/>
        </p:nvSpPr>
        <p:spPr>
          <a:xfrm>
            <a:off x="522773" y="1267326"/>
            <a:ext cx="376821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Spam Message Detection</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543F360-8CE6-8919-3FD4-664DC5891E38}"/>
              </a:ext>
            </a:extLst>
          </p:cNvPr>
          <p:cNvPicPr>
            <a:picLocks noChangeAspect="1"/>
          </p:cNvPicPr>
          <p:nvPr/>
        </p:nvPicPr>
        <p:blipFill>
          <a:blip r:embed="rId3"/>
          <a:stretch>
            <a:fillRect/>
          </a:stretch>
        </p:blipFill>
        <p:spPr>
          <a:xfrm>
            <a:off x="838200" y="1849073"/>
            <a:ext cx="4826874" cy="2916713"/>
          </a:xfrm>
          <a:prstGeom prst="rect">
            <a:avLst/>
          </a:prstGeom>
        </p:spPr>
      </p:pic>
      <p:pic>
        <p:nvPicPr>
          <p:cNvPr id="12" name="Picture 11">
            <a:extLst>
              <a:ext uri="{FF2B5EF4-FFF2-40B4-BE49-F238E27FC236}">
                <a16:creationId xmlns:a16="http://schemas.microsoft.com/office/drawing/2014/main" id="{0CD81A5F-357C-399F-A280-05FAF9F23641}"/>
              </a:ext>
            </a:extLst>
          </p:cNvPr>
          <p:cNvPicPr>
            <a:picLocks noChangeAspect="1"/>
          </p:cNvPicPr>
          <p:nvPr/>
        </p:nvPicPr>
        <p:blipFill>
          <a:blip r:embed="rId4"/>
          <a:stretch>
            <a:fillRect/>
          </a:stretch>
        </p:blipFill>
        <p:spPr>
          <a:xfrm>
            <a:off x="6095999" y="1849072"/>
            <a:ext cx="4923323" cy="2916713"/>
          </a:xfrm>
          <a:prstGeom prst="rect">
            <a:avLst/>
          </a:prstGeom>
        </p:spPr>
      </p:pic>
    </p:spTree>
    <p:extLst>
      <p:ext uri="{BB962C8B-B14F-4D97-AF65-F5344CB8AC3E}">
        <p14:creationId xmlns:p14="http://schemas.microsoft.com/office/powerpoint/2010/main" val="1596828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E5AF-DA73-E1F9-355F-D1FD7D7BD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4E80F-0097-E9C3-7382-360052E7B917}"/>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5481DD49-2B31-B5DE-1072-47D8565B3949}"/>
              </a:ext>
            </a:extLst>
          </p:cNvPr>
          <p:cNvSpPr>
            <a:spLocks noGrp="1"/>
          </p:cNvSpPr>
          <p:nvPr>
            <p:ph idx="1"/>
          </p:nvPr>
        </p:nvSpPr>
        <p:spPr>
          <a:xfrm>
            <a:off x="850490" y="1629275"/>
            <a:ext cx="10515600" cy="4909637"/>
          </a:xfrm>
        </p:spPr>
        <p:txBody>
          <a:bodyPr>
            <a:normAutofit fontScale="92500" lnSpcReduction="20000"/>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performance graphs and metrics display the effectiveness of the spam classification models using evaluation measures such as accuracy, precision, recall, F1 score, and confusion matrix. These visualizations help in understanding how well the models classify messages as spam or ham and allow comparison between Naive Bayes and Logistic Regression.</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968410B-BCDE-C84E-52FF-8E1CC22612F4}"/>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BDCE6E0F-A9EE-2542-7F8C-4E2ECB888AAA}"/>
              </a:ext>
            </a:extLst>
          </p:cNvPr>
          <p:cNvSpPr>
            <a:spLocks noGrp="1"/>
          </p:cNvSpPr>
          <p:nvPr>
            <p:ph type="sldNum" sz="quarter" idx="12"/>
          </p:nvPr>
        </p:nvSpPr>
        <p:spPr/>
        <p:txBody>
          <a:bodyPr/>
          <a:lstStyle/>
          <a:p>
            <a:fld id="{1FCEF87E-815D-44D1-B0AB-39AF0402D6A8}" type="slidenum">
              <a:rPr lang="en-US" smtClean="0"/>
              <a:t>8</a:t>
            </a:fld>
            <a:endParaRPr lang="en-US"/>
          </a:p>
        </p:txBody>
      </p:sp>
      <p:pic>
        <p:nvPicPr>
          <p:cNvPr id="8" name="Picture 7">
            <a:extLst>
              <a:ext uri="{FF2B5EF4-FFF2-40B4-BE49-F238E27FC236}">
                <a16:creationId xmlns:a16="http://schemas.microsoft.com/office/drawing/2014/main" id="{49002E2E-0363-F8B1-290D-99F105949F03}"/>
              </a:ext>
            </a:extLst>
          </p:cNvPr>
          <p:cNvPicPr>
            <a:picLocks noChangeAspect="1"/>
          </p:cNvPicPr>
          <p:nvPr/>
        </p:nvPicPr>
        <p:blipFill>
          <a:blip r:embed="rId2"/>
          <a:stretch>
            <a:fillRect/>
          </a:stretch>
        </p:blipFill>
        <p:spPr>
          <a:xfrm>
            <a:off x="838199" y="1527358"/>
            <a:ext cx="3996613" cy="3457597"/>
          </a:xfrm>
          <a:prstGeom prst="rect">
            <a:avLst/>
          </a:prstGeom>
        </p:spPr>
      </p:pic>
      <p:pic>
        <p:nvPicPr>
          <p:cNvPr id="10" name="Picture 9">
            <a:extLst>
              <a:ext uri="{FF2B5EF4-FFF2-40B4-BE49-F238E27FC236}">
                <a16:creationId xmlns:a16="http://schemas.microsoft.com/office/drawing/2014/main" id="{931BF644-75C7-5F0F-746E-3AFFE7A08DC8}"/>
              </a:ext>
            </a:extLst>
          </p:cNvPr>
          <p:cNvPicPr>
            <a:picLocks noChangeAspect="1"/>
          </p:cNvPicPr>
          <p:nvPr/>
        </p:nvPicPr>
        <p:blipFill>
          <a:blip r:embed="rId3"/>
          <a:stretch>
            <a:fillRect/>
          </a:stretch>
        </p:blipFill>
        <p:spPr>
          <a:xfrm>
            <a:off x="5771534" y="1267326"/>
            <a:ext cx="3785419" cy="3802943"/>
          </a:xfrm>
          <a:prstGeom prst="rect">
            <a:avLst/>
          </a:prstGeom>
        </p:spPr>
      </p:pic>
    </p:spTree>
    <p:extLst>
      <p:ext uri="{BB962C8B-B14F-4D97-AF65-F5344CB8AC3E}">
        <p14:creationId xmlns:p14="http://schemas.microsoft.com/office/powerpoint/2010/main" val="3068120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E194-4ECC-DEF7-3207-7A16A8370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FBD7E-17FA-D6FE-9F00-BD04E2159125}"/>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01688EDC-BA40-D2F6-76EA-45072DBE2A9A}"/>
              </a:ext>
            </a:extLst>
          </p:cNvPr>
          <p:cNvSpPr>
            <a:spLocks noGrp="1"/>
          </p:cNvSpPr>
          <p:nvPr>
            <p:ph idx="1"/>
          </p:nvPr>
        </p:nvSpPr>
        <p:spPr>
          <a:xfrm>
            <a:off x="498731" y="1551123"/>
            <a:ext cx="10515600" cy="4909637"/>
          </a:xfrm>
        </p:spPr>
        <p:txBody>
          <a:bodyPr>
            <a:normAutofit fontScale="92500" lnSpcReduction="10000"/>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a:t>
            </a:r>
            <a:r>
              <a:rPr lang="en-US" sz="2000" dirty="0">
                <a:latin typeface="Times New Roman" panose="02020603050405020304" pitchFamily="18" charset="0"/>
                <a:cs typeface="Times New Roman" panose="02020603050405020304" pitchFamily="18" charset="0"/>
              </a:rPr>
              <a:t>The confusion matrix shows the number of correct and incorrect predictions made by the model for spam and ham messages, helping to evaluate classification performance.</a:t>
            </a:r>
          </a:p>
          <a:p>
            <a:pPr marL="0" indent="0">
              <a:buNone/>
            </a:pPr>
            <a:r>
              <a:rPr lang="en-US" sz="2000" dirty="0">
                <a:latin typeface="Times New Roman" panose="02020603050405020304" pitchFamily="18" charset="0"/>
                <a:cs typeface="Times New Roman" panose="02020603050405020304" pitchFamily="18" charset="0"/>
              </a:rPr>
              <a:t>• It displays values such as true positives, true negatives, false positives, and false negatives, providing a clear understanding of how well the model distinguishes between spam and non-spam messages.</a:t>
            </a:r>
          </a:p>
          <a:p>
            <a:pPr marL="0" indent="0">
              <a:buNone/>
            </a:pPr>
            <a:endParaRPr lang="en-US" sz="2000" dirty="0"/>
          </a:p>
        </p:txBody>
      </p:sp>
      <p:sp>
        <p:nvSpPr>
          <p:cNvPr id="4" name="Date Placeholder 3">
            <a:extLst>
              <a:ext uri="{FF2B5EF4-FFF2-40B4-BE49-F238E27FC236}">
                <a16:creationId xmlns:a16="http://schemas.microsoft.com/office/drawing/2014/main" id="{9432004D-3478-6901-4D27-F0BD4392A4AC}"/>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A33E140C-4693-0A12-37A8-A014ED183E1B}"/>
              </a:ext>
            </a:extLst>
          </p:cNvPr>
          <p:cNvSpPr>
            <a:spLocks noGrp="1"/>
          </p:cNvSpPr>
          <p:nvPr>
            <p:ph type="sldNum" sz="quarter" idx="12"/>
          </p:nvPr>
        </p:nvSpPr>
        <p:spPr/>
        <p:txBody>
          <a:bodyPr/>
          <a:lstStyle/>
          <a:p>
            <a:fld id="{1FCEF87E-815D-44D1-B0AB-39AF0402D6A8}" type="slidenum">
              <a:rPr lang="en-US" smtClean="0"/>
              <a:t>9</a:t>
            </a:fld>
            <a:endParaRPr lang="en-US"/>
          </a:p>
        </p:txBody>
      </p:sp>
      <p:pic>
        <p:nvPicPr>
          <p:cNvPr id="9" name="Picture 8">
            <a:extLst>
              <a:ext uri="{FF2B5EF4-FFF2-40B4-BE49-F238E27FC236}">
                <a16:creationId xmlns:a16="http://schemas.microsoft.com/office/drawing/2014/main" id="{8249F794-2095-B2EB-8896-0B4E9BCB0469}"/>
              </a:ext>
            </a:extLst>
          </p:cNvPr>
          <p:cNvPicPr>
            <a:picLocks noChangeAspect="1"/>
          </p:cNvPicPr>
          <p:nvPr/>
        </p:nvPicPr>
        <p:blipFill>
          <a:blip r:embed="rId2"/>
          <a:stretch>
            <a:fillRect/>
          </a:stretch>
        </p:blipFill>
        <p:spPr>
          <a:xfrm>
            <a:off x="838200" y="1556332"/>
            <a:ext cx="3924848" cy="3391373"/>
          </a:xfrm>
          <a:prstGeom prst="rect">
            <a:avLst/>
          </a:prstGeom>
        </p:spPr>
      </p:pic>
      <p:pic>
        <p:nvPicPr>
          <p:cNvPr id="11" name="Picture 10">
            <a:extLst>
              <a:ext uri="{FF2B5EF4-FFF2-40B4-BE49-F238E27FC236}">
                <a16:creationId xmlns:a16="http://schemas.microsoft.com/office/drawing/2014/main" id="{72BCDCDE-0BE8-BB92-C623-F485C5B55938}"/>
              </a:ext>
            </a:extLst>
          </p:cNvPr>
          <p:cNvPicPr>
            <a:picLocks noChangeAspect="1"/>
          </p:cNvPicPr>
          <p:nvPr/>
        </p:nvPicPr>
        <p:blipFill>
          <a:blip r:embed="rId3"/>
          <a:stretch>
            <a:fillRect/>
          </a:stretch>
        </p:blipFill>
        <p:spPr>
          <a:xfrm>
            <a:off x="5756531" y="1551123"/>
            <a:ext cx="3924848" cy="3372916"/>
          </a:xfrm>
          <a:prstGeom prst="rect">
            <a:avLst/>
          </a:prstGeom>
        </p:spPr>
      </p:pic>
    </p:spTree>
    <p:extLst>
      <p:ext uri="{BB962C8B-B14F-4D97-AF65-F5344CB8AC3E}">
        <p14:creationId xmlns:p14="http://schemas.microsoft.com/office/powerpoint/2010/main" val="274102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6BC98-9C87-39B7-1B3E-6F234B4C0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998EF-F151-78AA-EF9B-D6357A63C79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2E46B86-FB42-48B8-7F96-EC5F0EE65AC7}"/>
              </a:ext>
            </a:extLst>
          </p:cNvPr>
          <p:cNvSpPr>
            <a:spLocks noGrp="1"/>
          </p:cNvSpPr>
          <p:nvPr>
            <p:ph idx="1"/>
          </p:nvPr>
        </p:nvSpPr>
        <p:spPr>
          <a:xfrm>
            <a:off x="838200" y="1267326"/>
            <a:ext cx="10515600" cy="4909637"/>
          </a:xfrm>
        </p:spPr>
        <p:txBody>
          <a:bodyPr>
            <a:normAutofit fontScale="70000" lnSpcReduction="20000"/>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endParaRPr lang="en-US" sz="2000" dirty="0"/>
          </a:p>
          <a:p>
            <a:endParaRPr lang="en-US" sz="2000" dirty="0"/>
          </a:p>
          <a:p>
            <a:endParaRPr lang="en-US" sz="2000" dirty="0"/>
          </a:p>
          <a:p>
            <a:r>
              <a:rPr lang="en-US" sz="2900" dirty="0">
                <a:latin typeface="Times New Roman" panose="02020603050405020304" pitchFamily="18" charset="0"/>
                <a:cs typeface="Times New Roman" panose="02020603050405020304" pitchFamily="18" charset="0"/>
              </a:rPr>
              <a:t>Modern visualization shows data insights using simple graphs like bar charts, heatmaps, and scatter plots to understand student performance.</a:t>
            </a:r>
          </a:p>
          <a:p>
            <a:r>
              <a:rPr lang="en-US" sz="2900" dirty="0">
                <a:latin typeface="Times New Roman" panose="02020603050405020304" pitchFamily="18" charset="0"/>
                <a:cs typeface="Times New Roman" panose="02020603050405020304" pitchFamily="18" charset="0"/>
              </a:rPr>
              <a:t>Recommendations give easy tips to students like improving study time, maintaining attendance, and focusing on weak subjects.</a:t>
            </a:r>
          </a:p>
          <a:p>
            <a:pPr marL="0" indent="0">
              <a:buNone/>
            </a:pPr>
            <a:endParaRPr lang="en-US" sz="2000" dirty="0"/>
          </a:p>
        </p:txBody>
      </p:sp>
      <p:sp>
        <p:nvSpPr>
          <p:cNvPr id="4" name="Date Placeholder 3">
            <a:extLst>
              <a:ext uri="{FF2B5EF4-FFF2-40B4-BE49-F238E27FC236}">
                <a16:creationId xmlns:a16="http://schemas.microsoft.com/office/drawing/2014/main" id="{1777C410-F8FC-556E-7810-F98251D78851}"/>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CD45D779-983D-70A8-659D-C5DD3F44EE4E}"/>
              </a:ext>
            </a:extLst>
          </p:cNvPr>
          <p:cNvSpPr>
            <a:spLocks noGrp="1"/>
          </p:cNvSpPr>
          <p:nvPr>
            <p:ph type="sldNum" sz="quarter" idx="12"/>
          </p:nvPr>
        </p:nvSpPr>
        <p:spPr/>
        <p:txBody>
          <a:bodyPr/>
          <a:lstStyle/>
          <a:p>
            <a:fld id="{1FCEF87E-815D-44D1-B0AB-39AF0402D6A8}" type="slidenum">
              <a:rPr lang="en-US" smtClean="0"/>
              <a:t>10</a:t>
            </a:fld>
            <a:endParaRPr lang="en-US"/>
          </a:p>
        </p:txBody>
      </p:sp>
      <p:pic>
        <p:nvPicPr>
          <p:cNvPr id="6" name="Picture 5">
            <a:extLst>
              <a:ext uri="{FF2B5EF4-FFF2-40B4-BE49-F238E27FC236}">
                <a16:creationId xmlns:a16="http://schemas.microsoft.com/office/drawing/2014/main" id="{F24F4605-0C39-D46E-233A-F04B4094C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736" y="1087939"/>
            <a:ext cx="5233219" cy="3716962"/>
          </a:xfrm>
          <a:prstGeom prst="rect">
            <a:avLst/>
          </a:prstGeom>
        </p:spPr>
      </p:pic>
      <p:pic>
        <p:nvPicPr>
          <p:cNvPr id="7" name="Picture 6">
            <a:extLst>
              <a:ext uri="{FF2B5EF4-FFF2-40B4-BE49-F238E27FC236}">
                <a16:creationId xmlns:a16="http://schemas.microsoft.com/office/drawing/2014/main" id="{352C22A0-0586-D72C-983D-5FD1F262D055}"/>
              </a:ext>
            </a:extLst>
          </p:cNvPr>
          <p:cNvPicPr>
            <a:picLocks noChangeAspect="1"/>
          </p:cNvPicPr>
          <p:nvPr/>
        </p:nvPicPr>
        <p:blipFill rotWithShape="1">
          <a:blip r:embed="rId3">
            <a:extLst>
              <a:ext uri="{28A0092B-C50C-407E-A947-70E740481C1C}">
                <a14:useLocalDpi xmlns:a14="http://schemas.microsoft.com/office/drawing/2010/main" val="0"/>
              </a:ext>
            </a:extLst>
          </a:blip>
          <a:srcRect l="117" r="340"/>
          <a:stretch>
            <a:fillRect/>
          </a:stretch>
        </p:blipFill>
        <p:spPr bwMode="auto">
          <a:xfrm>
            <a:off x="6685936" y="1602658"/>
            <a:ext cx="5004620" cy="23695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48269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1267326"/>
            <a:ext cx="10515600" cy="4909637"/>
          </a:xfrm>
        </p:spPr>
        <p:txBody>
          <a:bodyPr>
            <a:normAutofit/>
          </a:bodyPr>
          <a:lstStyle/>
          <a:p>
            <a:pPr lvl="0"/>
            <a:endParaRPr lang="en-GB" sz="2000" b="1" dirty="0"/>
          </a:p>
          <a:p>
            <a:pPr marL="0" lvl="0" indent="0">
              <a:buNone/>
            </a:pPr>
            <a:r>
              <a:rPr lang="en-GB" sz="2200" b="1" dirty="0"/>
              <a:t>Results</a:t>
            </a:r>
            <a:endParaRPr lang="en-US" sz="2000" b="1" dirty="0"/>
          </a:p>
          <a:p>
            <a:pPr lvl="1"/>
            <a:endParaRPr lang="en-US" dirty="0"/>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11</a:t>
            </a:fld>
            <a:endParaRPr lang="en-US" dirty="0"/>
          </a:p>
        </p:txBody>
      </p:sp>
      <p:sp>
        <p:nvSpPr>
          <p:cNvPr id="6" name="Rectangle 1">
            <a:extLst>
              <a:ext uri="{FF2B5EF4-FFF2-40B4-BE49-F238E27FC236}">
                <a16:creationId xmlns:a16="http://schemas.microsoft.com/office/drawing/2014/main" id="{0FCC33F4-C08D-74CB-72EB-4CC853F35BBD}"/>
              </a:ext>
            </a:extLst>
          </p:cNvPr>
          <p:cNvSpPr>
            <a:spLocks noChangeArrowheads="1"/>
          </p:cNvSpPr>
          <p:nvPr/>
        </p:nvSpPr>
        <p:spPr bwMode="auto">
          <a:xfrm>
            <a:off x="732996" y="-4397277"/>
            <a:ext cx="10119359" cy="1015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000" dirty="0"/>
              <a:t>• The system successfully classifies messages as </a:t>
            </a:r>
            <a:r>
              <a:rPr lang="en-US" sz="2000" b="1" dirty="0"/>
              <a:t>Spam</a:t>
            </a:r>
            <a:r>
              <a:rPr lang="en-US" sz="2000" dirty="0"/>
              <a:t> or </a:t>
            </a:r>
            <a:r>
              <a:rPr lang="en-US" sz="2000" b="1" dirty="0"/>
              <a:t>Ham (Non-Spam)</a:t>
            </a:r>
            <a:r>
              <a:rPr lang="en-US" sz="2000" dirty="0"/>
              <a:t> using machine learning algorithms.</a:t>
            </a:r>
          </a:p>
          <a:p>
            <a:r>
              <a:rPr lang="en-US" sz="2000" dirty="0"/>
              <a:t>• Both </a:t>
            </a:r>
            <a:r>
              <a:rPr lang="en-US" sz="2000" b="1" dirty="0"/>
              <a:t>Naive Bayes</a:t>
            </a:r>
            <a:r>
              <a:rPr lang="en-US" sz="2000" dirty="0"/>
              <a:t> and </a:t>
            </a:r>
            <a:r>
              <a:rPr lang="en-US" sz="2000" b="1" dirty="0"/>
              <a:t>Logistic Regression</a:t>
            </a:r>
            <a:r>
              <a:rPr lang="en-US" sz="2000" dirty="0"/>
              <a:t> provide reliable and accurate prediction results.</a:t>
            </a:r>
          </a:p>
          <a:p>
            <a:r>
              <a:rPr lang="en-US" sz="2000" dirty="0"/>
              <a:t>• Logistic Regression achieves higher performance in terms of </a:t>
            </a:r>
            <a:r>
              <a:rPr lang="en-US" sz="2000" b="1" dirty="0"/>
              <a:t>accuracy, recall, and F1 score</a:t>
            </a:r>
            <a:r>
              <a:rPr lang="en-US" sz="2000" dirty="0"/>
              <a:t> compared to Naive Bayes.</a:t>
            </a:r>
          </a:p>
          <a:p>
            <a:r>
              <a:rPr lang="en-US" sz="2000" dirty="0"/>
              <a:t>• The model effectively identifies spam messages based on textual patterns and keywords.</a:t>
            </a:r>
          </a:p>
          <a:p>
            <a:r>
              <a:rPr lang="en-US" sz="2000" dirty="0"/>
              <a:t>• The </a:t>
            </a:r>
            <a:r>
              <a:rPr lang="en-US" sz="2000" dirty="0" err="1"/>
              <a:t>Tkinter</a:t>
            </a:r>
            <a:r>
              <a:rPr lang="en-US" sz="2000" dirty="0"/>
              <a:t>-based GUI enables real-time message input and instant classification results.</a:t>
            </a:r>
          </a:p>
          <a:p>
            <a:r>
              <a:rPr lang="en-US" sz="2000" dirty="0"/>
              <a:t>• Performance evaluation using accuracy, precision, recall, and confusion matrix shows strong model effectiveness.</a:t>
            </a:r>
          </a:p>
          <a:p>
            <a:r>
              <a:rPr lang="en-US" sz="2000" dirty="0"/>
              <a:t>• Visualization graphs and charts help in comparing both models and understanding their performance clearly.</a:t>
            </a:r>
          </a:p>
        </p:txBody>
      </p:sp>
    </p:spTree>
    <p:extLst>
      <p:ext uri="{BB962C8B-B14F-4D97-AF65-F5344CB8AC3E}">
        <p14:creationId xmlns:p14="http://schemas.microsoft.com/office/powerpoint/2010/main" val="1263363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1F08-ACBA-74D4-21C7-1877C96BE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D231F-4F31-F7C1-0756-E5AB6686376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E39BF234-03FB-99B7-1FAD-E73A077F6A4D}"/>
              </a:ext>
            </a:extLst>
          </p:cNvPr>
          <p:cNvSpPr>
            <a:spLocks noGrp="1"/>
          </p:cNvSpPr>
          <p:nvPr>
            <p:ph idx="1"/>
          </p:nvPr>
        </p:nvSpPr>
        <p:spPr>
          <a:xfrm>
            <a:off x="838200" y="1267326"/>
            <a:ext cx="10515600" cy="4909637"/>
          </a:xfrm>
        </p:spPr>
        <p:txBody>
          <a:bodyPr>
            <a:normAutofit/>
          </a:bodyPr>
          <a:lstStyle/>
          <a:p>
            <a:pPr lvl="0"/>
            <a:endParaRPr lang="en-US" sz="2000" b="1" dirty="0"/>
          </a:p>
          <a:p>
            <a:pPr marL="0" lvl="0" indent="0">
              <a:buNone/>
            </a:pPr>
            <a:r>
              <a:rPr lang="en-US" sz="2000" b="1" dirty="0"/>
              <a:t>Future enhancements</a:t>
            </a:r>
            <a:endParaRPr lang="en-US" sz="2000" dirty="0"/>
          </a:p>
        </p:txBody>
      </p:sp>
      <p:sp>
        <p:nvSpPr>
          <p:cNvPr id="4" name="Date Placeholder 3">
            <a:extLst>
              <a:ext uri="{FF2B5EF4-FFF2-40B4-BE49-F238E27FC236}">
                <a16:creationId xmlns:a16="http://schemas.microsoft.com/office/drawing/2014/main" id="{CC9B2E9B-C1CA-3A86-8D9B-E24009B63C21}"/>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45D22F1A-313A-2BA7-A778-DA35C0DFD707}"/>
              </a:ext>
            </a:extLst>
          </p:cNvPr>
          <p:cNvSpPr>
            <a:spLocks noGrp="1"/>
          </p:cNvSpPr>
          <p:nvPr>
            <p:ph type="sldNum" sz="quarter" idx="12"/>
          </p:nvPr>
        </p:nvSpPr>
        <p:spPr/>
        <p:txBody>
          <a:bodyPr/>
          <a:lstStyle/>
          <a:p>
            <a:fld id="{1FCEF87E-815D-44D1-B0AB-39AF0402D6A8}" type="slidenum">
              <a:rPr lang="en-US" smtClean="0"/>
              <a:t>12</a:t>
            </a:fld>
            <a:endParaRPr lang="en-US" dirty="0"/>
          </a:p>
        </p:txBody>
      </p:sp>
      <p:sp>
        <p:nvSpPr>
          <p:cNvPr id="6" name="Rectangle 1">
            <a:extLst>
              <a:ext uri="{FF2B5EF4-FFF2-40B4-BE49-F238E27FC236}">
                <a16:creationId xmlns:a16="http://schemas.microsoft.com/office/drawing/2014/main" id="{B2F39DA0-D5C6-9FB1-9382-59684E9A3BB0}"/>
              </a:ext>
            </a:extLst>
          </p:cNvPr>
          <p:cNvSpPr>
            <a:spLocks noChangeArrowheads="1"/>
          </p:cNvSpPr>
          <p:nvPr/>
        </p:nvSpPr>
        <p:spPr bwMode="auto">
          <a:xfrm>
            <a:off x="838200" y="815339"/>
            <a:ext cx="10294374"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000" dirty="0"/>
              <a:t>• Improve model performance using advanced algorithms like </a:t>
            </a:r>
            <a:r>
              <a:rPr lang="en-US" sz="2000" b="1" dirty="0"/>
              <a:t>Support Vector Machines (SVM)</a:t>
            </a:r>
            <a:r>
              <a:rPr lang="en-US" sz="2000" dirty="0"/>
              <a:t>, </a:t>
            </a:r>
            <a:r>
              <a:rPr lang="en-US" sz="2000" b="1" dirty="0" err="1"/>
              <a:t>XGBoost</a:t>
            </a:r>
            <a:r>
              <a:rPr lang="en-US" sz="2000" dirty="0"/>
              <a:t>, or </a:t>
            </a:r>
            <a:r>
              <a:rPr lang="en-US" sz="2000" b="1" dirty="0"/>
              <a:t>Deep Learning models</a:t>
            </a:r>
            <a:r>
              <a:rPr lang="en-US" sz="2000" dirty="0"/>
              <a:t>.</a:t>
            </a:r>
          </a:p>
          <a:p>
            <a:r>
              <a:rPr lang="en-US" sz="2000" dirty="0"/>
              <a:t>• Expand the dataset to include </a:t>
            </a:r>
            <a:r>
              <a:rPr lang="en-US" sz="2000" b="1" dirty="0"/>
              <a:t>emails, multilingual messages, and real-time data</a:t>
            </a:r>
            <a:r>
              <a:rPr lang="en-US" sz="2000" dirty="0"/>
              <a:t> for better accuracy and generalization.</a:t>
            </a:r>
          </a:p>
          <a:p>
            <a:r>
              <a:rPr lang="en-US" sz="2000" dirty="0"/>
              <a:t>• Enhance the GUI by adding features like </a:t>
            </a:r>
            <a:r>
              <a:rPr lang="en-US" sz="2000" b="1" dirty="0"/>
              <a:t>message history, confidence score display, and batch message classification</a:t>
            </a:r>
            <a:r>
              <a:rPr lang="en-US" sz="2000" dirty="0"/>
              <a:t>.</a:t>
            </a:r>
          </a:p>
          <a:p>
            <a:r>
              <a:rPr lang="en-US" sz="2000" dirty="0"/>
              <a:t>• Deploy the system as a </a:t>
            </a:r>
            <a:r>
              <a:rPr lang="en-US" sz="2000" b="1" dirty="0"/>
              <a:t>web or mobile application</a:t>
            </a:r>
            <a:r>
              <a:rPr lang="en-US" sz="2000" dirty="0"/>
              <a:t> for real-world usage.</a:t>
            </a:r>
          </a:p>
          <a:p>
            <a:r>
              <a:rPr lang="en-US" sz="2000" dirty="0"/>
              <a:t>• Implement </a:t>
            </a:r>
            <a:r>
              <a:rPr lang="en-US" sz="2000" b="1" dirty="0"/>
              <a:t>continuous learning</a:t>
            </a:r>
            <a:r>
              <a:rPr lang="en-US" sz="2000" dirty="0"/>
              <a:t> to adapt to evolving spam patterns.</a:t>
            </a:r>
          </a:p>
          <a:p>
            <a:r>
              <a:rPr lang="en-US" sz="2000" dirty="0"/>
              <a:t>• Incorporate additional features such as </a:t>
            </a:r>
            <a:r>
              <a:rPr lang="en-US" sz="2000" b="1" dirty="0"/>
              <a:t>sender information, links, and attachments</a:t>
            </a:r>
            <a:r>
              <a:rPr lang="en-US" sz="2000" dirty="0"/>
              <a:t> for more robust spam detection.</a:t>
            </a:r>
          </a:p>
        </p:txBody>
      </p:sp>
    </p:spTree>
    <p:extLst>
      <p:ext uri="{BB962C8B-B14F-4D97-AF65-F5344CB8AC3E}">
        <p14:creationId xmlns:p14="http://schemas.microsoft.com/office/powerpoint/2010/main" val="1164879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439993" y="1400061"/>
            <a:ext cx="10515600" cy="4346893"/>
          </a:xfrm>
        </p:spPr>
        <p:txBody>
          <a:bodyPr>
            <a:normAutofit/>
          </a:bodyPr>
          <a:lstStyle/>
          <a:p>
            <a:pPr marL="514350" lvl="0" indent="-514350">
              <a:buAutoNum type="arabicPeriod"/>
            </a:pPr>
            <a:r>
              <a:rPr lang="en-IN" sz="2200" dirty="0"/>
              <a:t>UCI Machine Learning Repository, “SMS Spam Collection Dataset”. [Online]. Available: https://archive.ics.uci.edu/ml/datasets/sms+spam+collection </a:t>
            </a:r>
          </a:p>
          <a:p>
            <a:pPr marL="514350" lvl="0" indent="-514350">
              <a:buAutoNum type="arabicPeriod"/>
            </a:pPr>
            <a:r>
              <a:rPr lang="en-IN" sz="2200" dirty="0"/>
              <a:t>Kaggle, “SMS Spam Collection Dataset”. [Online]. Available: https://www.kaggle.com/datasets/uciml/sms-spam-collection-dataset </a:t>
            </a:r>
          </a:p>
          <a:p>
            <a:pPr marL="514350" lvl="0" indent="-514350">
              <a:buAutoNum type="arabicPeriod"/>
            </a:pPr>
            <a:r>
              <a:rPr lang="en-IN" sz="2200" dirty="0"/>
              <a:t>T. M. Mitchell, Machine Learning, McGraw-Hill Education, 1997. </a:t>
            </a:r>
          </a:p>
          <a:p>
            <a:pPr marL="514350" lvl="0" indent="-514350">
              <a:buAutoNum type="arabicPeriod"/>
            </a:pPr>
            <a:r>
              <a:rPr lang="en-IN" sz="2200" dirty="0"/>
              <a:t>C. M. Bishop, Pattern Recognition and Machine Learning, Springer, 2006.</a:t>
            </a:r>
          </a:p>
          <a:p>
            <a:pPr marL="514350" lvl="0" indent="-514350">
              <a:buAutoNum type="arabicPeriod"/>
            </a:pPr>
            <a:r>
              <a:rPr lang="en-IN" sz="2200" dirty="0"/>
              <a:t>S. Raschka and V. </a:t>
            </a:r>
            <a:r>
              <a:rPr lang="en-IN" sz="2200" dirty="0" err="1"/>
              <a:t>Mirjalili</a:t>
            </a:r>
            <a:r>
              <a:rPr lang="en-IN" sz="2200" dirty="0"/>
              <a:t>, Python Machine Learning, 3rd Edition, </a:t>
            </a:r>
            <a:r>
              <a:rPr lang="en-IN" sz="2200" dirty="0" err="1"/>
              <a:t>Packt</a:t>
            </a:r>
            <a:r>
              <a:rPr lang="en-IN" sz="2200" dirty="0"/>
              <a:t> Publishing, 2019. </a:t>
            </a:r>
          </a:p>
          <a:p>
            <a:pPr marL="514350" lvl="0" indent="-514350">
              <a:buAutoNum type="arabicPeriod"/>
            </a:pPr>
            <a:r>
              <a:rPr lang="en-IN" sz="2200" dirty="0"/>
              <a:t>Scikit-learn Documentation, “Machine Learning in Python”. [Online]. Available: https://scikit-learn.org/stable/</a:t>
            </a:r>
          </a:p>
          <a:p>
            <a:pPr marL="0" indent="0">
              <a:buNone/>
            </a:pPr>
            <a:endParaRPr lang="en-US" sz="2000"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4/26/2026</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13</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TotalTime>
  <Words>1239</Words>
  <Application>Microsoft Office PowerPoint</Application>
  <PresentationFormat>Widescreen</PresentationFormat>
  <Paragraphs>232</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DEPARTMENT OF CSE (ARTIFICIAL INTELLIGENCE AND MACHINE LEARNING) ACADEMIC YEAR 2025 - 2026 SEMESTER IV MACHINE LEARNING LABORATORY  MINI PROJECT REVIEW  SPAM EMAIL CLASSIFICATION USING NAÏVE BAYES AND LOGISTIC REGRESSION</vt:lpstr>
      <vt:lpstr>PROBLEM STATEMENT</vt:lpstr>
      <vt:lpstr>THEORETICAL BACKGROUND</vt:lpstr>
      <vt:lpstr>THEORETICAL BACKGROUND</vt:lpstr>
      <vt:lpstr>IMPLEMENTATION AND CODE</vt:lpstr>
      <vt:lpstr>OUTPUT AND RESULTS</vt:lpstr>
      <vt:lpstr>OUTPUT AND RESULTS</vt:lpstr>
      <vt:lpstr>OUTPUT AND RESULTS</vt:lpstr>
      <vt:lpstr>OUTPUT AND RESULTS</vt:lpstr>
      <vt:lpstr>OUTPUT AND RESULTS</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dharrinir@gmail.com</cp:lastModifiedBy>
  <cp:revision>11</cp:revision>
  <dcterms:created xsi:type="dcterms:W3CDTF">2025-10-18T08:57:34Z</dcterms:created>
  <dcterms:modified xsi:type="dcterms:W3CDTF">2026-04-26T15:33:45Z</dcterms:modified>
</cp:coreProperties>
</file>